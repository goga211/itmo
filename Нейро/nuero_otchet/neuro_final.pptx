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8"/>
  </p:notesMasterIdLst>
  <p:handoutMasterIdLst>
    <p:handoutMasterId r:id="rId19"/>
  </p:handoutMasterIdLst>
  <p:sldIdLst>
    <p:sldId id="265" r:id="rId2"/>
    <p:sldId id="324" r:id="rId3"/>
    <p:sldId id="327" r:id="rId4"/>
    <p:sldId id="334" r:id="rId5"/>
    <p:sldId id="330" r:id="rId6"/>
    <p:sldId id="331" r:id="rId7"/>
    <p:sldId id="332" r:id="rId8"/>
    <p:sldId id="333" r:id="rId9"/>
    <p:sldId id="284" r:id="rId10"/>
    <p:sldId id="328" r:id="rId11"/>
    <p:sldId id="329" r:id="rId12"/>
    <p:sldId id="335" r:id="rId13"/>
    <p:sldId id="336" r:id="rId14"/>
    <p:sldId id="337" r:id="rId15"/>
    <p:sldId id="338" r:id="rId16"/>
    <p:sldId id="339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61" autoAdjust="0"/>
  </p:normalViewPr>
  <p:slideViewPr>
    <p:cSldViewPr snapToGrid="0" snapToObjects="1" showGuides="1">
      <p:cViewPr varScale="1">
        <p:scale>
          <a:sx n="86" d="100"/>
          <a:sy n="86" d="100"/>
        </p:scale>
        <p:origin x="740" y="5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87" r:id="rId14"/>
    <p:sldLayoutId id="2147483890" r:id="rId15"/>
    <p:sldLayoutId id="2147483880" r:id="rId16"/>
    <p:sldLayoutId id="2147483894" r:id="rId17"/>
    <p:sldLayoutId id="2147483875" r:id="rId18"/>
    <p:sldLayoutId id="2147483881" r:id="rId19"/>
    <p:sldLayoutId id="2147483882" r:id="rId20"/>
    <p:sldLayoutId id="2147483706" r:id="rId2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1/8/2873" TargetMode="External"/><Relationship Id="rId2" Type="http://schemas.openxmlformats.org/officeDocument/2006/relationships/hyperlink" Target="https://www.frontiersin.org/journals/computer-science/articles/10.3389/fcomp.2024.1478851/full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frontiersin.org/journals/computer-science/articles/10.3389/fcomp.2024.1478851/f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1/8/2873#:~:text=learning%20model%20that%20would%20be,be%20also%20used%20on%20all" TargetMode="External"/><Relationship Id="rId2" Type="http://schemas.openxmlformats.org/officeDocument/2006/relationships/hyperlink" Target="https://www.researchgate.net/publication/361607756_Mental_Stress_Assessment_Using_Ultra_Short_Term_HRV_Analysis_Based_on_Non-Linear_Method" TargetMode="Externa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www.nature.com/articles/s41598-025-01228-3?error=cookies_not_supported&amp;code=e72c99f0-4784-4a8e-8ab8-1fb62213050f#:~:text=,tool%20for%20mental%20stress%20recognition" TargetMode="External"/><Relationship Id="rId4" Type="http://schemas.openxmlformats.org/officeDocument/2006/relationships/hyperlink" Target="https://www.nature.com/articles/s41598-025-01228-3#:~:text=,tool%20for%20mental%20stress%20recogni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2.04938#:~:text=,We%20also%20propose%20a" TargetMode="External"/><Relationship Id="rId2" Type="http://schemas.openxmlformats.org/officeDocument/2006/relationships/hyperlink" Target="https://arxiv.org/abs/1706.00527#:~:text=motor%20state%20of%20Parkinson%27s%20Disease,to%2086.88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researchgate.net/publication/398884124_HRV_in_Stress_Monitoring_by_AI_A_Scoping_Review#:~:text=specifically%20on%20physiological%20stress%2C%20none,in%20critical%20areas%2C%20underscoring%20the" TargetMode="External"/><Relationship Id="rId5" Type="http://schemas.openxmlformats.org/officeDocument/2006/relationships/hyperlink" Target="http://proceedings.mlr.press/v287/yang25a.html#:~:text=" TargetMode="External"/><Relationship Id="rId4" Type="http://schemas.openxmlformats.org/officeDocument/2006/relationships/hyperlink" Target="frontiersin.org/journals/computer-science/articles/10.3389/fcomp.2024.1478851/full#:~:text=of%20stress%2C%20thus%20enabling%20early,for%20further%20research%20that%20deal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52099909_A_Review_on_Mental_Stress_Detection_Using_Wearable_Sensors_and_Machine_Learning_Techniques" TargetMode="External"/><Relationship Id="rId2" Type="http://schemas.openxmlformats.org/officeDocument/2006/relationships/hyperlink" Target="https://www.mdpi.com/2075-4418/11/3/556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sciencedirect.com/science/article/abs/pii/S1746809415000245" TargetMode="External"/><Relationship Id="rId5" Type="http://schemas.openxmlformats.org/officeDocument/2006/relationships/hyperlink" Target="https://www.researchgate.net/publication/352099909_A_Review_on_Mental_Stress_Detection_Using_Wearable_Sensors_and_Machine_Learning_Techniques?__cf_chl_rt_tk=ZqJURbXIEiBBfkvVG_9Nb_1cddBvBp9j2hw48OAb63A-1777318883-1.0.1.1-A5.PEyjByad.MhF01CeSHPcgfHcEp6h1OWqG2Fc71Ek" TargetMode="External"/><Relationship Id="rId4" Type="http://schemas.openxmlformats.org/officeDocument/2006/relationships/hyperlink" Target="https://www.sciencedirect.com/science/article/pii/S138650562300043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110016823000327" TargetMode="External"/><Relationship Id="rId2" Type="http://schemas.openxmlformats.org/officeDocument/2006/relationships/hyperlink" Target="https://www.sciencedirect.com/science/article/abs/pii/S1566253517300738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sciencedirect.com/science/article/abs/pii/S0167639319302262" TargetMode="External"/><Relationship Id="rId4" Type="http://schemas.openxmlformats.org/officeDocument/2006/relationships/hyperlink" Target="https://www.sciencedirect.com/science/article/abs/pii/S174680941500024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566253517300738" TargetMode="External"/><Relationship Id="rId2" Type="http://schemas.openxmlformats.org/officeDocument/2006/relationships/hyperlink" Target="https://www.sciencedirect.com/science/article/pii/S1566253517300738" TargetMode="Externa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9-6374/12/7/465" TargetMode="External"/><Relationship Id="rId2" Type="http://schemas.openxmlformats.org/officeDocument/2006/relationships/hyperlink" Target="https://www.mdpi.com/1424-8220/21/8/287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706.0052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306-5354/9/11/688" TargetMode="External"/><Relationship Id="rId2" Type="http://schemas.openxmlformats.org/officeDocument/2006/relationships/hyperlink" Target="https://dl.acm.org/doi/10.1145/2939672.2939778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031938415000827?via%3Dihub" TargetMode="External"/><Relationship Id="rId2" Type="http://schemas.openxmlformats.org/officeDocument/2006/relationships/hyperlink" Target="https://www.sciencedirect.com/science/article/abs/pii/S1566253517300738?via%3Dihu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abs/pii/S003132031930398X?via%3Dihub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986677/" TargetMode="External"/><Relationship Id="rId2" Type="http://schemas.openxmlformats.org/officeDocument/2006/relationships/hyperlink" Target="https://www.medrxiv.org/content/10.1101/2024.04.27.24305829v1.full?utm_source=chatgpt.com" TargetMode="Externa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63385695_Comparison_of_Stress_Detection_through_ECG_and_PPG_signals_using_a_Random_Forest-based_Algorithm?utm_source=chatgpt.com" TargetMode="External"/><Relationship Id="rId2" Type="http://schemas.openxmlformats.org/officeDocument/2006/relationships/hyperlink" Target="https://www.mdpi.com/1424-8220/23/11/5220" TargetMode="Externa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link.springer.com/article/10.1007/s44163-025-00412-8" TargetMode="External"/><Relationship Id="rId4" Type="http://schemas.openxmlformats.org/officeDocument/2006/relationships/hyperlink" Target="https://ouci.dntb.gov.ua/en/works/ldkJ8EG4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BioEmotion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ru-RU" dirty="0">
                <a:solidFill>
                  <a:schemeClr val="bg1"/>
                </a:solidFill>
              </a:rPr>
              <a:t>платформа анализа эмоций по физиологическим данным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2243" y="3947531"/>
            <a:ext cx="2044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Гаврилин Олег</a:t>
            </a:r>
          </a:p>
          <a:p>
            <a:r>
              <a:rPr lang="ru-RU" dirty="0">
                <a:solidFill>
                  <a:schemeClr val="bg1"/>
                </a:solidFill>
              </a:rPr>
              <a:t>Долинный Михаил</a:t>
            </a:r>
          </a:p>
          <a:p>
            <a:r>
              <a:rPr lang="ru-RU" dirty="0">
                <a:solidFill>
                  <a:schemeClr val="bg1"/>
                </a:solidFill>
              </a:rPr>
              <a:t>Антипин Григорий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+mj-lt"/>
              </a:rPr>
              <a:t>1)</a:t>
            </a:r>
            <a:r>
              <a:rPr lang="ru-RU" dirty="0">
                <a:latin typeface="+mj-lt"/>
              </a:rPr>
              <a:t> </a:t>
            </a:r>
            <a:r>
              <a:rPr lang="en-US" dirty="0">
                <a:latin typeface="+mj-lt"/>
              </a:rPr>
              <a:t>Stress has been identified as one of the major causes of automobile crashes which then lead to high rates of fatalities and injuries each year.</a:t>
            </a:r>
            <a:endParaRPr lang="ru-RU" dirty="0">
              <a:latin typeface="+mj-lt"/>
            </a:endParaRPr>
          </a:p>
          <a:p>
            <a:r>
              <a:rPr lang="ru-RU" sz="1500" b="1" dirty="0">
                <a:solidFill>
                  <a:srgbClr val="7030A0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sz="1500" b="1" dirty="0">
                <a:solidFill>
                  <a:srgbClr val="7030A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HRV Features as Viable Physiological Markers for Stress Detection Using Wearable Devices</a:t>
            </a:r>
            <a:r>
              <a:rPr lang="ru-RU" sz="1500" b="1" dirty="0">
                <a:solidFill>
                  <a:srgbClr val="7030A0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sz="1500" b="1" dirty="0">
              <a:solidFill>
                <a:srgbClr val="7030A0"/>
              </a:solidFill>
              <a:latin typeface="+mj-lt"/>
            </a:endParaRPr>
          </a:p>
          <a:p>
            <a:r>
              <a:rPr lang="ru-RU" b="1" dirty="0">
                <a:latin typeface="+mj-lt"/>
              </a:rPr>
              <a:t>2) </a:t>
            </a:r>
            <a:r>
              <a:rPr lang="en-US" dirty="0">
                <a:latin typeface="+mj-lt"/>
              </a:rPr>
              <a:t>Studies carried out in this field suggest that stress can lead to abnormalities in the cardiac rhythm, and this could lead to arrhythmia</a:t>
            </a:r>
          </a:p>
          <a:p>
            <a:r>
              <a:rPr lang="ru-RU" sz="1400" dirty="0">
                <a:solidFill>
                  <a:srgbClr val="7030A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sz="1500" b="1" dirty="0">
                <a:solidFill>
                  <a:srgbClr val="7030A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HRV Features as Viable Physiological Markers for Stress Detection Using Wearable Devices</a:t>
            </a:r>
            <a:r>
              <a:rPr lang="ru-RU" sz="1500" dirty="0">
                <a:solidFill>
                  <a:srgbClr val="7030A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sz="1500" dirty="0">
              <a:solidFill>
                <a:srgbClr val="7030A0"/>
              </a:solidFill>
              <a:latin typeface="+mj-lt"/>
            </a:endParaRPr>
          </a:p>
          <a:p>
            <a:r>
              <a:rPr lang="ru-RU" b="1" dirty="0">
                <a:latin typeface="+mj-lt"/>
              </a:rPr>
              <a:t>3) </a:t>
            </a:r>
            <a:r>
              <a:rPr lang="ru-RU" dirty="0">
                <a:latin typeface="+mj-lt"/>
              </a:rPr>
              <a:t>Хронический стресс требует раннего обнаружения, а носимые устройства позволяют перейти от эпизодической оценки к непрерывному </a:t>
            </a:r>
            <a:r>
              <a:rPr lang="ru-RU" dirty="0" err="1">
                <a:latin typeface="+mj-lt"/>
              </a:rPr>
              <a:t>неинвазивному</a:t>
            </a:r>
            <a:r>
              <a:rPr lang="ru-RU" dirty="0">
                <a:latin typeface="+mj-lt"/>
              </a:rPr>
              <a:t> мониторингу. </a:t>
            </a:r>
          </a:p>
          <a:p>
            <a:r>
              <a:rPr lang="ru-RU" sz="1500" b="1" dirty="0">
                <a:solidFill>
                  <a:srgbClr val="7030A0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sz="1500" b="1" dirty="0">
                <a:solidFill>
                  <a:srgbClr val="7030A0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Detection and monitoring of stress using wearables: a systematic review</a:t>
            </a:r>
            <a:r>
              <a:rPr lang="ru-RU" sz="1500" b="1" dirty="0">
                <a:solidFill>
                  <a:srgbClr val="7030A0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sz="1500" b="1" dirty="0">
              <a:solidFill>
                <a:srgbClr val="7030A0"/>
              </a:solidFill>
              <a:latin typeface="+mj-lt"/>
            </a:endParaRPr>
          </a:p>
          <a:p>
            <a:endParaRPr lang="ru-RU" b="1" dirty="0">
              <a:latin typeface="+mj-lt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Актуальность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500809" y="1112886"/>
            <a:ext cx="8142382" cy="3724179"/>
          </a:xfrm>
        </p:spPr>
        <p:txBody>
          <a:bodyPr>
            <a:noAutofit/>
          </a:bodyPr>
          <a:lstStyle/>
          <a:p>
            <a:r>
              <a:rPr lang="ru-RU" b="1" dirty="0">
                <a:latin typeface="+mn-lt"/>
              </a:rPr>
              <a:t>1) Сенсоры и сигналы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ЧСС (HRV), </a:t>
            </a:r>
            <a:r>
              <a:rPr lang="ru-RU" sz="1400" i="1" dirty="0">
                <a:latin typeface="+mj-lt"/>
              </a:rPr>
              <a:t>артериальное давление</a:t>
            </a:r>
            <a:r>
              <a:rPr lang="ru-RU" sz="1400" dirty="0">
                <a:latin typeface="+mj-lt"/>
              </a:rPr>
              <a:t>, температура тела.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  <a:p>
            <a:r>
              <a:rPr lang="en-US" b="1" dirty="0">
                <a:latin typeface="+mj-lt"/>
              </a:rPr>
              <a:t>2) </a:t>
            </a:r>
            <a:r>
              <a:rPr lang="ru-RU" b="1" dirty="0">
                <a:latin typeface="+mj-lt"/>
              </a:rPr>
              <a:t>Метрики HRV и временные окна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HRV извлекают из сердечного сигнала (интервалы R–R) и рассматривают </a:t>
            </a:r>
            <a:r>
              <a:rPr lang="en-US" sz="1400" dirty="0">
                <a:latin typeface="+mj-lt"/>
              </a:rPr>
              <a:t>	</a:t>
            </a:r>
            <a:r>
              <a:rPr lang="ru-RU" sz="1400" dirty="0">
                <a:latin typeface="+mj-lt"/>
              </a:rPr>
              <a:t>во временной</a:t>
            </a:r>
            <a:r>
              <a:rPr lang="en-US" sz="1400" dirty="0">
                <a:latin typeface="+mj-lt"/>
              </a:rPr>
              <a:t>, </a:t>
            </a:r>
            <a:r>
              <a:rPr lang="ru-RU" sz="1400" dirty="0">
                <a:latin typeface="+mj-lt"/>
              </a:rPr>
              <a:t>частотной и нелинейной областях. </a:t>
            </a:r>
            <a:r>
              <a:rPr lang="ru-RU" sz="1400" dirty="0">
                <a:solidFill>
                  <a:srgbClr val="7030A0"/>
                </a:solidFill>
                <a:latin typeface="+mj-lt"/>
              </a:rPr>
              <a:t>(</a:t>
            </a:r>
            <a:r>
              <a:rPr lang="ru-RU" sz="1400" dirty="0">
                <a:solidFill>
                  <a:srgbClr val="7030A0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исследование</a:t>
            </a:r>
            <a:r>
              <a:rPr lang="ru-RU" sz="1400" dirty="0">
                <a:solidFill>
                  <a:srgbClr val="7030A0"/>
                </a:solidFill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HRV–метрики (AVNN, SDNN, RMSSD и др.) – показали высокую эффективность: в одном </a:t>
            </a:r>
            <a:r>
              <a:rPr lang="ru-RU" sz="1400" dirty="0">
                <a:solidFill>
                  <a:srgbClr val="7030A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исследовании</a:t>
            </a:r>
            <a:r>
              <a:rPr lang="ru-RU" sz="1400" dirty="0">
                <a:latin typeface="+mj-lt"/>
              </a:rPr>
              <a:t> Recall≈0.80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+mj-lt"/>
            </a:endParaRPr>
          </a:p>
          <a:p>
            <a:r>
              <a:rPr lang="ru-RU" b="1" dirty="0">
                <a:latin typeface="+mj-lt"/>
              </a:rPr>
              <a:t>3) Модели и методы классификации</a:t>
            </a:r>
            <a:endParaRPr lang="ru-R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Модели SVM/MLP/CNN достигали ~80–95% при проведении исследований (</a:t>
            </a:r>
            <a:r>
              <a:rPr lang="ru-RU" sz="1400" dirty="0">
                <a:solidFill>
                  <a:srgbClr val="7030A0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исследование</a:t>
            </a:r>
            <a:r>
              <a:rPr lang="ru-RU" sz="1400" dirty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Использование изображений из временных рядов (GASF/GADF/MTF) с CNN дало ≈90.96% точности (</a:t>
            </a:r>
            <a:r>
              <a:rPr lang="ru-RU" sz="1400" dirty="0">
                <a:solidFill>
                  <a:srgbClr val="7030A0"/>
                </a:solidFill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исследование</a:t>
            </a:r>
            <a:r>
              <a:rPr lang="ru-RU" sz="1400" dirty="0">
                <a:latin typeface="+mj-lt"/>
              </a:rPr>
              <a:t>)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latin typeface="+mn-lt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Анализ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314859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534364" y="1133047"/>
            <a:ext cx="7924269" cy="3410856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+mj-lt"/>
              </a:rPr>
              <a:t>4) Аугментация и объяснимость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Аугментация временных рядов (пример: синтетические сигналы) улучшает результаты (</a:t>
            </a:r>
            <a:r>
              <a:rPr lang="ru-RU" dirty="0">
                <a:solidFill>
                  <a:srgbClr val="7030A0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классификация улучшена с 77.5% до 86.9% при применении аугментации</a:t>
            </a:r>
            <a:r>
              <a:rPr lang="ru-RU" dirty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Методы объяснимости (LIME) позволяют интерпретировать вклад признаков: LIME – новая техника объяснения прогнозов любого классификатора (</a:t>
            </a:r>
            <a:r>
              <a:rPr lang="ru-RU" dirty="0">
                <a:solidFill>
                  <a:srgbClr val="7030A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источник</a:t>
            </a:r>
            <a:r>
              <a:rPr lang="ru-RU" dirty="0">
                <a:latin typeface="+mj-lt"/>
              </a:rPr>
              <a:t>)</a:t>
            </a:r>
          </a:p>
          <a:p>
            <a:r>
              <a:rPr lang="ru-RU" sz="1800" b="1" dirty="0">
                <a:latin typeface="+mj-lt"/>
              </a:rPr>
              <a:t>5) Текущие тенденции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7030A0"/>
                </a:solidFill>
                <a:latin typeface="+mj-lt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Современные исследования</a:t>
            </a:r>
            <a:r>
              <a:rPr lang="ru-RU" dirty="0">
                <a:latin typeface="+mj-lt"/>
              </a:rPr>
              <a:t> рассматривают определение стресса как последовательный процесс обработки данных: от получения </a:t>
            </a:r>
            <a:r>
              <a:rPr lang="ru-RU" dirty="0" err="1">
                <a:latin typeface="+mj-lt"/>
              </a:rPr>
              <a:t>биосигналов</a:t>
            </a:r>
            <a:r>
              <a:rPr lang="ru-RU" dirty="0">
                <a:latin typeface="+mj-lt"/>
              </a:rPr>
              <a:t> до их анализа и классификации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Проекты 2024–2025 гг. фокусируются на мульти-модальном обучении и </a:t>
            </a:r>
            <a:r>
              <a:rPr lang="ru-RU" dirty="0" err="1">
                <a:latin typeface="+mj-lt"/>
              </a:rPr>
              <a:t>self-supervised</a:t>
            </a:r>
            <a:r>
              <a:rPr lang="ru-RU" dirty="0">
                <a:latin typeface="+mj-lt"/>
              </a:rPr>
              <a:t> </a:t>
            </a:r>
            <a:r>
              <a:rPr lang="ru-RU" dirty="0">
                <a:solidFill>
                  <a:srgbClr val="7030A0"/>
                </a:solidFill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методах</a:t>
            </a:r>
            <a:r>
              <a:rPr lang="ru-RU" dirty="0">
                <a:latin typeface="+mj-lt"/>
              </a:rPr>
              <a:t>, а также охарактеризовали HRV+AI как </a:t>
            </a:r>
            <a:r>
              <a:rPr lang="en-US" dirty="0">
                <a:solidFill>
                  <a:srgbClr val="7030A0"/>
                </a:solidFill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“</a:t>
            </a:r>
            <a:r>
              <a:rPr lang="ru-RU" dirty="0">
                <a:solidFill>
                  <a:srgbClr val="7030A0"/>
                </a:solidFill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обещающий подход</a:t>
            </a:r>
            <a:r>
              <a:rPr lang="en-US" dirty="0">
                <a:solidFill>
                  <a:srgbClr val="7030A0"/>
                </a:solidFill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”</a:t>
            </a:r>
            <a:endParaRPr lang="ru-RU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Анализ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2459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ru-RU" dirty="0">
                <a:latin typeface="+mn-lt"/>
              </a:rPr>
              <a:t>Физиологический подход — это оценка эмоционального или стрессового состояния по изменениям в работе автономной нервной системы и связанных </a:t>
            </a:r>
            <a:r>
              <a:rPr lang="ru-RU" dirty="0" err="1">
                <a:latin typeface="+mn-lt"/>
              </a:rPr>
              <a:t>биомаркерах</a:t>
            </a:r>
            <a:r>
              <a:rPr lang="ru-RU" dirty="0">
                <a:latin typeface="+mn-lt"/>
              </a:rPr>
              <a:t>: сердечный ритм, вариабельность ритма, кожная проводимость, температура, дыхание, ЭЭГ и другие сигналы.</a:t>
            </a:r>
          </a:p>
          <a:p>
            <a:r>
              <a:rPr lang="ru-RU" sz="1300" dirty="0">
                <a:latin typeface="+mn-lt"/>
              </a:rPr>
              <a:t>(</a:t>
            </a:r>
            <a:r>
              <a:rPr lang="en-US" sz="1300" b="1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 Review of </a:t>
            </a:r>
            <a:r>
              <a:rPr lang="en-US" sz="1300" b="1" dirty="0" err="1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Biophysiological</a:t>
            </a:r>
            <a:r>
              <a:rPr lang="en-US" sz="1300" b="1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and Biochemical Indicators of Stress for Connected and Preventive Healthcare</a:t>
            </a:r>
            <a:r>
              <a:rPr lang="ru-RU" sz="13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en-US" sz="1300" dirty="0">
              <a:latin typeface="+mn-lt"/>
            </a:endParaRPr>
          </a:p>
          <a:p>
            <a:endParaRPr lang="ru-RU" dirty="0">
              <a:latin typeface="+mn-lt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>
                <a:latin typeface="+mn-lt"/>
              </a:rPr>
              <a:t>Плюсы подхода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Для задач </a:t>
            </a:r>
            <a:r>
              <a:rPr lang="ru-RU" dirty="0" err="1">
                <a:latin typeface="+mn-lt"/>
              </a:rPr>
              <a:t>stress</a:t>
            </a:r>
            <a:r>
              <a:rPr lang="ru-RU" dirty="0">
                <a:latin typeface="+mn-lt"/>
              </a:rPr>
              <a:t>/</a:t>
            </a:r>
            <a:r>
              <a:rPr lang="ru-RU" dirty="0" err="1">
                <a:latin typeface="+mn-lt"/>
              </a:rPr>
              <a:t>affect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computing</a:t>
            </a:r>
            <a:r>
              <a:rPr lang="ru-RU" dirty="0">
                <a:latin typeface="+mn-lt"/>
              </a:rPr>
              <a:t> именно этот класс сигналов считается базовым для непрерывного мониторинга с носимых устройств. (</a:t>
            </a:r>
            <a:r>
              <a:rPr lang="en-US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sciencedirect.com</a:t>
            </a:r>
            <a:r>
              <a:rPr lang="ru-RU" dirty="0">
                <a:latin typeface="+mn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Мы получаем возможность работать  с непрерывным, а не дискретным потоком обрабатываемых данных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>
                <a:latin typeface="+mn-lt"/>
              </a:rPr>
              <a:t>Минусы подхода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Артефакты при движении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Плохой контакт пальца и датчика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Современные обзоры прямо указывают, что многим </a:t>
            </a:r>
            <a:r>
              <a:rPr lang="ru-RU" dirty="0" err="1">
                <a:latin typeface="+mn-lt"/>
              </a:rPr>
              <a:t>stress</a:t>
            </a:r>
            <a:r>
              <a:rPr lang="ru-RU" dirty="0">
                <a:latin typeface="+mn-lt"/>
              </a:rPr>
              <a:t>-моделям не хватает </a:t>
            </a:r>
            <a:r>
              <a:rPr lang="ru-RU" dirty="0" err="1">
                <a:latin typeface="+mn-lt"/>
              </a:rPr>
              <a:t>generalization</a:t>
            </a:r>
            <a:r>
              <a:rPr lang="ru-RU" dirty="0">
                <a:latin typeface="+mn-lt"/>
              </a:rPr>
              <a:t>, а реальные </a:t>
            </a:r>
            <a:r>
              <a:rPr lang="ru-RU" dirty="0" err="1">
                <a:latin typeface="+mn-lt"/>
              </a:rPr>
              <a:t>датасеты</a:t>
            </a:r>
            <a:r>
              <a:rPr lang="ru-RU" dirty="0">
                <a:latin typeface="+mn-lt"/>
              </a:rPr>
              <a:t> часто короткие и собраны в узких сценариях.</a:t>
            </a:r>
          </a:p>
          <a:p>
            <a:r>
              <a:rPr lang="ru-RU" dirty="0">
                <a:latin typeface="+mn-lt"/>
              </a:rPr>
              <a:t>(</a:t>
            </a:r>
            <a:r>
              <a:rPr lang="en-US" dirty="0"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sciencedirect.com</a:t>
            </a:r>
            <a:r>
              <a:rPr lang="ru-RU" dirty="0">
                <a:latin typeface="+mn-lt"/>
              </a:rPr>
              <a:t>)</a:t>
            </a:r>
          </a:p>
          <a:p>
            <a:endParaRPr lang="ru-RU" dirty="0">
              <a:latin typeface="+mn-lt"/>
            </a:endParaRPr>
          </a:p>
          <a:p>
            <a:r>
              <a:rPr lang="ru-RU" dirty="0">
                <a:latin typeface="+mn-lt"/>
              </a:rPr>
              <a:t>“Носимые устройства обещают сбор данных в реальном времени и непрерывно.”</a:t>
            </a:r>
          </a:p>
          <a:p>
            <a:r>
              <a:rPr lang="en-US" b="1" dirty="0"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Shruti Gedam </a:t>
            </a:r>
            <a:r>
              <a:rPr lang="ru-RU" b="1" dirty="0"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 соавт., 2021</a:t>
            </a:r>
            <a:endParaRPr lang="ru-RU" b="1" dirty="0">
              <a:latin typeface="+mn-lt"/>
            </a:endParaRPr>
          </a:p>
          <a:p>
            <a:r>
              <a:rPr lang="ru-RU" dirty="0">
                <a:latin typeface="+mn-lt"/>
              </a:rPr>
              <a:t>“HRV считается надежным средством косвенно наблюдать ВНС.”</a:t>
            </a:r>
          </a:p>
          <a:p>
            <a:r>
              <a:rPr lang="it-IT" b="1" dirty="0"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Rossana Castaldo и соавт., 2015</a:t>
            </a:r>
            <a:endParaRPr lang="ru-RU" b="1" dirty="0">
              <a:latin typeface="+mn-lt"/>
            </a:endParaRPr>
          </a:p>
          <a:p>
            <a:endParaRPr lang="ru-RU" dirty="0">
              <a:latin typeface="+mn-lt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+mn-lt"/>
              </a:rPr>
              <a:t>Физиологический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116352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ru-RU" b="1" dirty="0">
                <a:latin typeface="+mn-lt"/>
              </a:rPr>
              <a:t>Поведенческий подход </a:t>
            </a:r>
            <a:r>
              <a:rPr lang="ru-RU" dirty="0">
                <a:latin typeface="+mn-lt"/>
              </a:rPr>
              <a:t>оценивает состояние человека не по внутренним </a:t>
            </a:r>
            <a:r>
              <a:rPr lang="ru-RU" dirty="0" err="1">
                <a:latin typeface="+mn-lt"/>
              </a:rPr>
              <a:t>биосигналам</a:t>
            </a:r>
            <a:r>
              <a:rPr lang="ru-RU" dirty="0">
                <a:latin typeface="+mn-lt"/>
              </a:rPr>
              <a:t>, а по внешним проявлениям: </a:t>
            </a:r>
            <a:r>
              <a:rPr lang="ru-RU" b="1" dirty="0">
                <a:latin typeface="+mn-lt"/>
              </a:rPr>
              <a:t>лицу</a:t>
            </a:r>
            <a:r>
              <a:rPr lang="ru-RU" dirty="0">
                <a:latin typeface="+mn-lt"/>
              </a:rPr>
              <a:t>, </a:t>
            </a:r>
            <a:r>
              <a:rPr lang="ru-RU" b="1" dirty="0">
                <a:latin typeface="+mn-lt"/>
              </a:rPr>
              <a:t>голосу</a:t>
            </a:r>
            <a:r>
              <a:rPr lang="ru-RU" dirty="0">
                <a:latin typeface="+mn-lt"/>
              </a:rPr>
              <a:t> и </a:t>
            </a:r>
            <a:r>
              <a:rPr lang="ru-RU" b="1" dirty="0">
                <a:latin typeface="+mn-lt"/>
              </a:rPr>
              <a:t>тексту</a:t>
            </a:r>
            <a:r>
              <a:rPr lang="ru-RU" dirty="0">
                <a:latin typeface="+mn-lt"/>
              </a:rPr>
              <a:t>. В аффективных вычислениях это один из главных классов методов, особенно когда система не должна использовать контактные датчики.</a:t>
            </a:r>
          </a:p>
          <a:p>
            <a:r>
              <a:rPr lang="ru-RU" dirty="0">
                <a:latin typeface="+mn-lt"/>
              </a:rPr>
              <a:t>(</a:t>
            </a:r>
            <a:r>
              <a:rPr lang="en-US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sciencedirect.com: A review of affective computing: From unimodal analysis to multimodal fusion</a:t>
            </a:r>
            <a:r>
              <a:rPr lang="ru-RU" dirty="0">
                <a:latin typeface="+mn-lt"/>
              </a:rPr>
              <a:t>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457202" y="3105836"/>
            <a:ext cx="3897084" cy="1640335"/>
          </a:xfrm>
        </p:spPr>
        <p:txBody>
          <a:bodyPr>
            <a:noAutofit/>
          </a:bodyPr>
          <a:lstStyle/>
          <a:p>
            <a:r>
              <a:rPr lang="ru-RU" b="1" dirty="0">
                <a:latin typeface="+mn-lt"/>
              </a:rPr>
              <a:t>Минусы подхода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Зависимость исследуемых параметров от технического оборудования. Лицо – от света, голос – от шума, микрофона.</a:t>
            </a:r>
          </a:p>
          <a:p>
            <a:r>
              <a:rPr lang="ru-RU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 comprehensive survey on deep facial expression recognition: challenges, applications, and future guidelines</a:t>
            </a:r>
            <a:r>
              <a:rPr lang="ru-RU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+mn-lt"/>
              </a:rPr>
              <a:t>Плюсы подхода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+mn-lt"/>
              </a:rPr>
              <a:t>Бесконтактность</a:t>
            </a:r>
            <a:r>
              <a:rPr lang="ru-RU" dirty="0">
                <a:latin typeface="+mn-lt"/>
              </a:rPr>
              <a:t>.</a:t>
            </a:r>
            <a:r>
              <a:rPr lang="ru-RU" b="1" dirty="0">
                <a:latin typeface="+mn-lt"/>
              </a:rPr>
              <a:t> </a:t>
            </a:r>
            <a:r>
              <a:rPr lang="ru-RU" dirty="0">
                <a:latin typeface="+mn-lt"/>
              </a:rPr>
              <a:t>Камера, микрофон и текст уже есть почти в любой вычислительной среде, а значит, этот подход масштабируется без нового </a:t>
            </a:r>
            <a:r>
              <a:rPr lang="ru-RU" dirty="0" err="1">
                <a:latin typeface="+mn-lt"/>
              </a:rPr>
              <a:t>wearable</a:t>
            </a:r>
            <a:r>
              <a:rPr lang="ru-RU" dirty="0">
                <a:latin typeface="+mn-lt"/>
              </a:rPr>
              <a:t>-железа.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Особенно хорош там, где важны коммуникативные признаки, а не только физиологическое возбуждение</a:t>
            </a:r>
            <a:endParaRPr lang="ru-RU" b="1" dirty="0">
              <a:latin typeface="+mn-lt"/>
            </a:endParaRPr>
          </a:p>
          <a:p>
            <a:r>
              <a:rPr lang="ru-RU" b="1" dirty="0">
                <a:latin typeface="+mn-lt"/>
              </a:rPr>
              <a:t>(</a:t>
            </a:r>
            <a:r>
              <a:rPr lang="en-US" dirty="0"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 review of affective computing: From unimodal analysis to multimodal fusion</a:t>
            </a:r>
            <a:r>
              <a:rPr lang="ru-RU" b="1" dirty="0">
                <a:latin typeface="+mn-lt"/>
              </a:rPr>
              <a:t>)</a:t>
            </a:r>
          </a:p>
          <a:p>
            <a:r>
              <a:rPr lang="ru-RU" b="1" dirty="0">
                <a:latin typeface="+mn-lt"/>
              </a:rPr>
              <a:t>- </a:t>
            </a:r>
            <a:r>
              <a:rPr lang="ru-RU" dirty="0">
                <a:latin typeface="+mn-lt"/>
              </a:rPr>
              <a:t>“Речь — самый естественный способ выражать себя.” </a:t>
            </a:r>
            <a:r>
              <a:rPr lang="ru-RU" dirty="0"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dirty="0"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Speech emotion recognition: Emotional models, databases, features, preprocessing methods, supporting modalities, and classifiers</a:t>
            </a:r>
            <a:r>
              <a:rPr lang="ru-RU" dirty="0"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b="1" dirty="0">
              <a:latin typeface="+mn-lt"/>
            </a:endParaRPr>
          </a:p>
          <a:p>
            <a:pPr marL="285750" indent="-285750">
              <a:buFontTx/>
              <a:buChar char="-"/>
            </a:pPr>
            <a:endParaRPr lang="ru-RU" b="1" dirty="0">
              <a:latin typeface="+mn-lt"/>
            </a:endParaRPr>
          </a:p>
          <a:p>
            <a:endParaRPr lang="ru-RU" dirty="0">
              <a:latin typeface="+mn-lt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+mn-lt"/>
              </a:rPr>
              <a:t>Поведенческий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50903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Комбинированный подход объединяет несколько модальностей — либо разные физиологические каналы, либо физиологию плюс поведение — и затем выполняет </a:t>
            </a:r>
            <a:r>
              <a:rPr lang="ru-RU" b="1" dirty="0" err="1">
                <a:latin typeface="+mn-lt"/>
              </a:rPr>
              <a:t>fusion</a:t>
            </a:r>
            <a:r>
              <a:rPr lang="ru-RU" dirty="0">
                <a:latin typeface="+mn-lt"/>
              </a:rPr>
              <a:t> на уровне признаков, решений или общего вероятностного вывода.</a:t>
            </a:r>
          </a:p>
          <a:p>
            <a:r>
              <a:rPr lang="ru-RU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sciencedirect.com</a:t>
            </a:r>
            <a:r>
              <a:rPr lang="ru-RU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ru-RU" dirty="0">
                <a:latin typeface="+mn-lt"/>
              </a:rPr>
              <a:t>Плюсы подхода</a:t>
            </a:r>
            <a:r>
              <a:rPr lang="en-US" dirty="0"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+mn-lt"/>
              </a:rPr>
              <a:t>Взаимодоплняемость</a:t>
            </a:r>
            <a:r>
              <a:rPr lang="ru-RU" dirty="0">
                <a:latin typeface="+mn-lt"/>
              </a:rPr>
              <a:t> каналов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stress</a:t>
            </a:r>
            <a:r>
              <a:rPr lang="ru-RU" dirty="0">
                <a:latin typeface="+mn-lt"/>
              </a:rPr>
              <a:t>/</a:t>
            </a:r>
            <a:r>
              <a:rPr lang="ru-RU" dirty="0" err="1">
                <a:latin typeface="+mn-lt"/>
              </a:rPr>
              <a:t>affect</a:t>
            </a:r>
            <a:r>
              <a:rPr lang="ru-RU" dirty="0">
                <a:latin typeface="+mn-lt"/>
              </a:rPr>
              <a:t>-задач это особенно ценно: физиология отражает внутреннее возбуждение, голос и лицо — внешнее проявление, текст — семантическую сторону состояния. </a:t>
            </a:r>
          </a:p>
          <a:p>
            <a:r>
              <a:rPr lang="ru-RU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sciencedirect.com</a:t>
            </a:r>
            <a:r>
              <a:rPr lang="ru-RU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Минусы подхода</a:t>
            </a:r>
            <a:r>
              <a:rPr lang="en-US" dirty="0"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Дороговизна</a:t>
            </a:r>
          </a:p>
          <a:p>
            <a:r>
              <a:rPr lang="ru-RU" dirty="0">
                <a:latin typeface="+mn-lt"/>
              </a:rPr>
              <a:t>Нужны единые </a:t>
            </a:r>
            <a:r>
              <a:rPr lang="ru-RU" dirty="0" err="1">
                <a:latin typeface="+mn-lt"/>
              </a:rPr>
              <a:t>таймстемпы</a:t>
            </a:r>
            <a:r>
              <a:rPr lang="ru-RU" dirty="0">
                <a:latin typeface="+mn-lt"/>
              </a:rPr>
              <a:t>, синхронизация окон, обработка пропусков модальностей, больше вычислений, больше сценариев отказа и намного более требовательные </a:t>
            </a:r>
            <a:r>
              <a:rPr lang="ru-RU" dirty="0" err="1">
                <a:latin typeface="+mn-lt"/>
              </a:rPr>
              <a:t>датасеты</a:t>
            </a:r>
            <a:r>
              <a:rPr lang="ru-RU" dirty="0">
                <a:latin typeface="+mn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n-lt"/>
              </a:rPr>
              <a:t>Самый большой </a:t>
            </a:r>
            <a:r>
              <a:rPr lang="ru-RU" dirty="0" err="1">
                <a:latin typeface="+mn-lt"/>
              </a:rPr>
              <a:t>приватностный</a:t>
            </a:r>
            <a:r>
              <a:rPr lang="ru-RU" dirty="0">
                <a:latin typeface="+mn-lt"/>
              </a:rPr>
              <a:t> риск</a:t>
            </a:r>
          </a:p>
          <a:p>
            <a:r>
              <a:rPr lang="ru-RU" dirty="0">
                <a:latin typeface="+mn-lt"/>
              </a:rPr>
              <a:t>Объединяются и </a:t>
            </a:r>
            <a:r>
              <a:rPr lang="ru-RU" dirty="0" err="1">
                <a:latin typeface="+mn-lt"/>
              </a:rPr>
              <a:t>биосигналы</a:t>
            </a:r>
            <a:r>
              <a:rPr lang="ru-RU" dirty="0">
                <a:latin typeface="+mn-lt"/>
              </a:rPr>
              <a:t>, и потенциально идентифицирующие поведенческие данные. </a:t>
            </a:r>
            <a:r>
              <a:rPr lang="ru-RU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</a:t>
            </a:r>
            <a:r>
              <a:rPr lang="en-US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sciencedirect.com</a:t>
            </a:r>
            <a:r>
              <a:rPr lang="ru-RU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+mn-lt"/>
              </a:rPr>
              <a:t>Комбинированный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239613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Резюме</a:t>
            </a:r>
          </a:p>
        </p:txBody>
      </p:sp>
      <p:sp>
        <p:nvSpPr>
          <p:cNvPr id="4" name="AutoShape 2" descr="Сравнение подходов к анализу эмоций"/>
          <p:cNvSpPr>
            <a:spLocks noGrp="1" noChangeAspect="1" noChangeArrowheads="1"/>
          </p:cNvSpPr>
          <p:nvPr>
            <p:ph type="body" sz="quarter" idx="1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5" name="AutoShape 4" descr="Сравнение подходов к анализу эмоций"/>
          <p:cNvSpPr>
            <a:spLocks noChangeAspect="1" noChangeArrowheads="1"/>
          </p:cNvSpPr>
          <p:nvPr/>
        </p:nvSpPr>
        <p:spPr bwMode="auto">
          <a:xfrm>
            <a:off x="155574" y="-144463"/>
            <a:ext cx="1794837" cy="179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4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8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1) </a:t>
            </a:r>
            <a:r>
              <a:rPr lang="en-US" b="1" dirty="0" err="1"/>
              <a:t>Dalmeida</a:t>
            </a:r>
            <a:r>
              <a:rPr lang="en-US" b="1" dirty="0"/>
              <a:t>, K.M., Masala, G.L. “HRV Features as Viable Physiological Markers for Stress Detection Using Wearable Devices.” </a:t>
            </a:r>
            <a:r>
              <a:rPr lang="en-US" b="1" i="1" dirty="0"/>
              <a:t>Sensors</a:t>
            </a:r>
            <a:r>
              <a:rPr lang="en-US" b="1" dirty="0"/>
              <a:t> 21, no. 8 (2021): 2873.: </a:t>
            </a:r>
            <a:r>
              <a:rPr lang="en-US" b="1" dirty="0">
                <a:solidFill>
                  <a:srgbClr val="7030A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https://www.mdpi.com/1424-8220/21/8/2873</a:t>
            </a:r>
            <a:endParaRPr lang="ru-RU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Авторы статьи показывают, что признаки HRV действительно работоспособны как маркеры стресса на данных с носимых устройств; в их лучшей модели </a:t>
            </a:r>
            <a:r>
              <a:rPr lang="ru-RU" dirty="0" err="1"/>
              <a:t>recall</a:t>
            </a:r>
            <a:r>
              <a:rPr lang="ru-RU" dirty="0"/>
              <a:t> достигает 80%.</a:t>
            </a:r>
          </a:p>
          <a:p>
            <a:r>
              <a:rPr lang="ru-RU" b="1" dirty="0"/>
              <a:t>2) </a:t>
            </a:r>
            <a:r>
              <a:rPr lang="en-US" b="1" dirty="0"/>
              <a:t>Lee, S., et al. “Mental Stress Assessment Using Ultra Short Term HRV Analysis Based on Non-Linear Method.” </a:t>
            </a:r>
            <a:r>
              <a:rPr lang="en-US" b="1" i="1" dirty="0"/>
              <a:t>Biosensors</a:t>
            </a:r>
            <a:r>
              <a:rPr lang="en-US" b="1" dirty="0"/>
              <a:t> 12, no. 7 (2022): 465.</a:t>
            </a:r>
            <a:r>
              <a:rPr lang="en-US" dirty="0"/>
              <a:t>: </a:t>
            </a:r>
            <a:r>
              <a:rPr lang="en-US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https://www.mdpi.com/2079-6374/12/7/465</a:t>
            </a:r>
            <a:endParaRPr lang="en-US" b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специально анализирует </a:t>
            </a:r>
            <a:r>
              <a:rPr lang="ru-RU" dirty="0" err="1"/>
              <a:t>ultra-short</a:t>
            </a:r>
            <a:r>
              <a:rPr lang="ru-RU" dirty="0"/>
              <a:t> HRV и показывает, что нелинейные признаки могут быть полезны для </a:t>
            </a:r>
            <a:r>
              <a:rPr lang="ru-RU" dirty="0" err="1"/>
              <a:t>детекции</a:t>
            </a:r>
            <a:r>
              <a:rPr lang="ru-RU" dirty="0"/>
              <a:t> ментального стресса даже на очень коротких интервалах. Это особенно важно для </a:t>
            </a:r>
            <a:r>
              <a:rPr lang="ru-RU" dirty="0" err="1"/>
              <a:t>real-time</a:t>
            </a:r>
            <a:r>
              <a:rPr lang="ru-RU" dirty="0"/>
              <a:t> систем, где окна в 5 минут могут быть слишком длинными с точки зрения UX и </a:t>
            </a:r>
            <a:r>
              <a:rPr lang="ru-RU" dirty="0" err="1"/>
              <a:t>latency</a:t>
            </a:r>
            <a:r>
              <a:rPr lang="ru-RU" dirty="0"/>
              <a:t>.</a:t>
            </a:r>
          </a:p>
          <a:p>
            <a:r>
              <a:rPr lang="ru-RU" b="1" dirty="0"/>
              <a:t>3) </a:t>
            </a:r>
            <a:r>
              <a:rPr lang="en-US" b="1" dirty="0"/>
              <a:t>Um, T.T., </a:t>
            </a:r>
            <a:r>
              <a:rPr lang="en-US" b="1" dirty="0" err="1"/>
              <a:t>Pfister</a:t>
            </a:r>
            <a:r>
              <a:rPr lang="en-US" b="1" dirty="0"/>
              <a:t>, F.M.J., </a:t>
            </a:r>
            <a:r>
              <a:rPr lang="en-US" b="1" dirty="0" err="1"/>
              <a:t>Pichler</a:t>
            </a:r>
            <a:r>
              <a:rPr lang="en-US" b="1" dirty="0"/>
              <a:t>, D., et al. “Data Augmentation of Wearable Sensor Data for Parkinson’s Disease Monitoring using Convolutional Neural Networks.” </a:t>
            </a:r>
            <a:r>
              <a:rPr lang="en-US" b="1" i="1" dirty="0"/>
              <a:t>ICMI 2017</a:t>
            </a:r>
            <a:r>
              <a:rPr lang="en-US" b="1" dirty="0"/>
              <a:t> / </a:t>
            </a:r>
            <a:r>
              <a:rPr lang="en-US" b="1" dirty="0" err="1"/>
              <a:t>arXiv</a:t>
            </a:r>
            <a:r>
              <a:rPr lang="en-US" b="1" dirty="0"/>
              <a:t> (2017).</a:t>
            </a:r>
            <a:r>
              <a:rPr lang="ru-RU" b="1" dirty="0"/>
              <a:t> </a:t>
            </a:r>
            <a:r>
              <a:rPr lang="en-US" b="1" dirty="0">
                <a:solidFill>
                  <a:srgbClr val="7030A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https://arxiv.org/abs/1706.00527</a:t>
            </a:r>
            <a:endParaRPr lang="ru-RU" b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показывает, что </a:t>
            </a:r>
            <a:r>
              <a:rPr lang="ru-RU" dirty="0" err="1"/>
              <a:t>augmentation</a:t>
            </a:r>
            <a:r>
              <a:rPr lang="ru-RU" dirty="0"/>
              <a:t> для </a:t>
            </a:r>
            <a:r>
              <a:rPr lang="ru-RU" dirty="0" err="1"/>
              <a:t>wearable</a:t>
            </a:r>
            <a:r>
              <a:rPr lang="ru-RU" dirty="0"/>
              <a:t> </a:t>
            </a:r>
            <a:r>
              <a:rPr lang="ru-RU" dirty="0" err="1"/>
              <a:t>time-series</a:t>
            </a:r>
            <a:r>
              <a:rPr lang="ru-RU" dirty="0"/>
              <a:t> действительно может заметно улучшать качество классификации при малых данных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4)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b="1" dirty="0"/>
              <a:t>Ribeiro, M.T., Singh, S., </a:t>
            </a:r>
            <a:r>
              <a:rPr lang="en-US" b="1" dirty="0" err="1"/>
              <a:t>Guestrin</a:t>
            </a:r>
            <a:r>
              <a:rPr lang="en-US" b="1" dirty="0"/>
              <a:t>, C. “Why Should I Trust You? Explaining the Predictions of Any Classifier.” </a:t>
            </a:r>
            <a:r>
              <a:rPr lang="en-US" b="1" i="1" dirty="0"/>
              <a:t>KDD 2016</a:t>
            </a:r>
            <a:r>
              <a:rPr lang="en-US" b="1" dirty="0"/>
              <a:t>.</a:t>
            </a:r>
            <a:endParaRPr lang="ru-RU" b="1" dirty="0"/>
          </a:p>
          <a:p>
            <a:r>
              <a:rPr lang="en-US" b="1" dirty="0">
                <a:solidFill>
                  <a:srgbClr val="7030A0"/>
                </a:solidFill>
                <a:latin typeface="Golos Text" panose="020B0503020202020204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https://dl.acm.org/doi/10.1145/2939672.2939778</a:t>
            </a:r>
            <a:endParaRPr lang="ru-RU" b="1" dirty="0">
              <a:solidFill>
                <a:srgbClr val="7030A0"/>
              </a:solidFill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Классическая работа по LIME, локальным интерпретируемым объяснениям для произвольного классификатора. Для </a:t>
            </a:r>
            <a:r>
              <a:rPr lang="ru-RU" dirty="0" err="1"/>
              <a:t>biosignal</a:t>
            </a:r>
            <a:r>
              <a:rPr lang="ru-RU" dirty="0"/>
              <a:t>-проектов особенно полезна сама логика: объяснять предсказание нужно на уровне конкретного окна/конкретной сессии, а не только “в среднем по </a:t>
            </a:r>
            <a:r>
              <a:rPr lang="ru-RU" dirty="0" err="1"/>
              <a:t>датасету</a:t>
            </a:r>
            <a:r>
              <a:rPr lang="ru-RU" dirty="0"/>
              <a:t>”.</a:t>
            </a:r>
          </a:p>
          <a:p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5) </a:t>
            </a:r>
            <a:r>
              <a:rPr lang="en-US" b="1" dirty="0"/>
              <a:t>Ahmad, Z., Khan, N. “A Survey on Physiological Signal-Based Emotion Recognition.” </a:t>
            </a:r>
            <a:r>
              <a:rPr lang="en-US" b="1" i="1" dirty="0"/>
              <a:t>Bioengineering</a:t>
            </a:r>
            <a:r>
              <a:rPr lang="en-US" b="1" dirty="0"/>
              <a:t> 9, no. 11 (2022): 688.</a:t>
            </a:r>
            <a:r>
              <a:rPr lang="ru-RU" b="1" dirty="0"/>
              <a:t> </a:t>
            </a:r>
            <a:r>
              <a:rPr lang="en-US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https://www.mdpi.com/2306-5354/9/11/688</a:t>
            </a:r>
            <a:endParaRPr lang="ru-RU" b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Обзор подчеркивает, что физиологические сигналы ценны тем, что менее подвержены произвольному контролю со стороны испытуемого, чем, например, мимика или речь.</a:t>
            </a:r>
          </a:p>
          <a:p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6) </a:t>
            </a:r>
            <a:r>
              <a:rPr lang="en-US" b="1" dirty="0"/>
              <a:t>Iwana, B.K., Uchida, S. “An empirical survey of data augmentation for time series classification with neural networks.” </a:t>
            </a:r>
            <a:r>
              <a:rPr lang="en-US" b="1" i="1" dirty="0"/>
              <a:t>PLOS ONE</a:t>
            </a:r>
            <a:r>
              <a:rPr lang="en-US" b="1" dirty="0"/>
              <a:t> 16, no. 7 (2021): e0254841.</a:t>
            </a:r>
            <a:r>
              <a:rPr lang="en-US" dirty="0"/>
              <a:t> https://doi.org/10.1371/journal.pone.0254841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2C2D2E"/>
                </a:solidFill>
                <a:effectLst/>
                <a:latin typeface="Golos Text" panose="020B0503020202020204"/>
              </a:rPr>
              <a:t>Статья </a:t>
            </a:r>
            <a:r>
              <a:rPr lang="ru-RU" dirty="0"/>
              <a:t>дает методологическое оправдание для выбора </a:t>
            </a:r>
            <a:r>
              <a:rPr lang="ru-RU" dirty="0" err="1"/>
              <a:t>augmentation</a:t>
            </a:r>
            <a:r>
              <a:rPr lang="ru-RU" dirty="0"/>
              <a:t>-техник на потоковых </a:t>
            </a:r>
            <a:r>
              <a:rPr lang="ru-RU" dirty="0" err="1"/>
              <a:t>физиоданных</a:t>
            </a:r>
            <a:r>
              <a:rPr lang="ru-RU" dirty="0"/>
              <a:t>. </a:t>
            </a:r>
            <a:endParaRPr lang="ru-RU" sz="140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35814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2C2D2E"/>
                </a:solidFill>
                <a:latin typeface="Golos Text" panose="020B0503020202020204"/>
              </a:rPr>
              <a:t>7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)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b="1" dirty="0"/>
              <a:t>A Survey of Affective Computing: From Unimodal Analysis to Multimodal</a:t>
            </a:r>
            <a:r>
              <a:rPr lang="ru-RU" b="1" dirty="0"/>
              <a:t> </a:t>
            </a:r>
            <a:r>
              <a:rPr lang="en-US" b="1" dirty="0"/>
              <a:t>Fusion</a:t>
            </a:r>
            <a:r>
              <a:rPr lang="ru-RU" b="1" dirty="0"/>
              <a:t> </a:t>
            </a:r>
            <a:r>
              <a:rPr lang="en-US" b="1" dirty="0">
                <a:solidFill>
                  <a:srgbClr val="7030A0"/>
                </a:solidFill>
                <a:latin typeface="Golos Text" panose="020B0503020202020204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https://www.sciencedirect.com/science/article/abs/pii/S1566253517300738?via%3Dihub</a:t>
            </a:r>
            <a:endParaRPr lang="ru-RU" b="1" dirty="0">
              <a:solidFill>
                <a:srgbClr val="7030A0"/>
              </a:solidFill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Статья представляет обзор методов аффективных вычислений, включая анализ физиологических и поведенческих данных. Рассматриваются подходы к распознаванию эмоций с использованием различных источников информации.</a:t>
            </a:r>
          </a:p>
          <a:p>
            <a:r>
              <a:rPr lang="ru-RU" b="1" dirty="0">
                <a:solidFill>
                  <a:srgbClr val="2C2D2E"/>
                </a:solidFill>
                <a:latin typeface="Golos Text" panose="020B0503020202020204"/>
              </a:rPr>
              <a:t>8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) </a:t>
            </a:r>
            <a:r>
              <a:rPr lang="en-US" b="1" dirty="0"/>
              <a:t>Heart Rate Variability for Stress Detection</a:t>
            </a:r>
            <a:r>
              <a:rPr lang="ru-RU" dirty="0"/>
              <a:t> </a:t>
            </a:r>
            <a:r>
              <a:rPr lang="en-US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https://www.sciencedirect.com/science/article/abs/pii/S0031938415000827?via%3Dihub</a:t>
            </a:r>
            <a:endParaRPr lang="ru-RU" b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статье рассматривается использование вариабельности сердечного ритма (HRV) для определения уровня стресса.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r>
              <a:rPr lang="ru-RU" b="1" dirty="0">
                <a:solidFill>
                  <a:srgbClr val="2C2D2E"/>
                </a:solidFill>
                <a:latin typeface="Golos Text" panose="020B0503020202020204"/>
              </a:rPr>
              <a:t>9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) </a:t>
            </a:r>
            <a:r>
              <a:rPr lang="en-US" b="1" dirty="0"/>
              <a:t>Deep Learning for Emotion Recognition from Physiological</a:t>
            </a:r>
            <a:r>
              <a:rPr lang="ru-RU" b="1" dirty="0"/>
              <a:t> </a:t>
            </a:r>
            <a:r>
              <a:rPr lang="en-US" b="1" dirty="0"/>
              <a:t>Signals</a:t>
            </a:r>
            <a:endParaRPr lang="ru-RU" b="1" dirty="0"/>
          </a:p>
          <a:p>
            <a:r>
              <a:rPr lang="en-US" b="1" dirty="0">
                <a:solidFill>
                  <a:srgbClr val="7030A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https://www.sciencedirect.com/science/article/abs/pii/S003132031930398X?via%3Dihub</a:t>
            </a:r>
            <a:endParaRPr lang="ru-RU" b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Статья рассматривает применение нейронных сетей для распознавания эмоций по физиологическим данным.</a:t>
            </a:r>
            <a:endParaRPr lang="ru-RU" sz="140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89455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+mj-lt"/>
              </a:rPr>
              <a:t>Цель и задачи проекта</a:t>
            </a:r>
            <a:endParaRPr lang="ru-RU" dirty="0">
              <a:latin typeface="+mj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800" b="1" dirty="0" smtClean="0">
                <a:latin typeface="+mj-lt"/>
              </a:rPr>
              <a:t>Цель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j-lt"/>
              </a:rPr>
              <a:t>Разработка системы определения уровня стресса по физиологическим данным в реальном времени с использованием </a:t>
            </a:r>
            <a:r>
              <a:rPr lang="ru-RU" sz="1600" dirty="0" smtClean="0">
                <a:latin typeface="+mj-lt"/>
              </a:rPr>
              <a:t>методов </a:t>
            </a:r>
            <a:r>
              <a:rPr lang="ru-RU" sz="1600" dirty="0">
                <a:latin typeface="+mj-lt"/>
              </a:rPr>
              <a:t>машинного обучения</a:t>
            </a:r>
            <a:r>
              <a:rPr lang="ru-RU" sz="1600" dirty="0" smtClean="0">
                <a:latin typeface="+mj-lt"/>
              </a:rPr>
              <a:t>.</a:t>
            </a:r>
            <a:endParaRPr lang="en-US" sz="1600" dirty="0" smtClean="0">
              <a:latin typeface="+mj-lt"/>
            </a:endParaRPr>
          </a:p>
          <a:p>
            <a:r>
              <a:rPr lang="ru-RU" sz="1800" b="1" dirty="0" smtClean="0">
                <a:latin typeface="+mj-lt"/>
              </a:rPr>
              <a:t>Задачи</a:t>
            </a:r>
            <a:endParaRPr lang="en-US" sz="1800" b="1" dirty="0" smtClean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Провести анализ предметной области аффективных вычислений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Разработать модуль сбора физических данных на базе </a:t>
            </a:r>
            <a:r>
              <a:rPr lang="en-US" sz="1600" dirty="0" smtClean="0">
                <a:latin typeface="+mj-lt"/>
              </a:rPr>
              <a:t>Arduino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Реализовать передачу данных через </a:t>
            </a:r>
            <a:r>
              <a:rPr lang="en-US" sz="1600" dirty="0" smtClean="0">
                <a:latin typeface="+mj-lt"/>
              </a:rPr>
              <a:t>MQTT-</a:t>
            </a:r>
            <a:r>
              <a:rPr lang="ru-RU" sz="1600" dirty="0" smtClean="0">
                <a:latin typeface="+mj-lt"/>
              </a:rPr>
              <a:t>брокер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Разработать </a:t>
            </a:r>
            <a:r>
              <a:rPr lang="en-US" sz="1600" dirty="0" smtClean="0">
                <a:latin typeface="+mj-lt"/>
              </a:rPr>
              <a:t>backend </a:t>
            </a:r>
            <a:r>
              <a:rPr lang="ru-RU" sz="1600" dirty="0" smtClean="0">
                <a:latin typeface="+mj-lt"/>
              </a:rPr>
              <a:t>для разработки и агрегации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Реализовать модели машинного обучения (</a:t>
            </a:r>
            <a:r>
              <a:rPr lang="en-US" sz="1600" dirty="0" smtClean="0">
                <a:latin typeface="+mj-lt"/>
              </a:rPr>
              <a:t>Random forest, Gradient Boosting, Rocket</a:t>
            </a:r>
            <a:r>
              <a:rPr lang="ru-RU" sz="1600" dirty="0" smtClean="0">
                <a:latin typeface="+mj-lt"/>
              </a:rPr>
              <a:t>)</a:t>
            </a:r>
            <a:endParaRPr lang="en-US" sz="1600" dirty="0" smtClean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Обеспечить обработку данных в реальном времени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latin typeface="+mj-lt"/>
              </a:rPr>
              <a:t>Разработать систему визуализации результатов</a:t>
            </a:r>
            <a:endParaRPr lang="en-US" sz="16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663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1600" b="1" dirty="0" smtClean="0">
                <a:latin typeface="+mj-lt"/>
              </a:rPr>
              <a:t>Сбор данных</a:t>
            </a:r>
            <a:endParaRPr lang="en-US" sz="1600" b="1" dirty="0" smtClean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+mj-lt"/>
              </a:rPr>
              <a:t>Пульс (</a:t>
            </a:r>
            <a:r>
              <a:rPr lang="en-US" b="1" dirty="0" smtClean="0">
                <a:latin typeface="+mj-lt"/>
              </a:rPr>
              <a:t>PPG/MAX30102</a:t>
            </a:r>
            <a:r>
              <a:rPr lang="ru-RU" b="1" dirty="0" smtClean="0">
                <a:latin typeface="+mj-lt"/>
              </a:rPr>
              <a:t>)</a:t>
            </a:r>
            <a:endParaRPr lang="en-US" b="1" dirty="0" smtClean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+mj-lt"/>
              </a:rPr>
              <a:t>Температура (</a:t>
            </a:r>
            <a:r>
              <a:rPr lang="en-US" b="1" dirty="0" smtClean="0">
                <a:latin typeface="+mj-lt"/>
              </a:rPr>
              <a:t>DS18B20</a:t>
            </a:r>
            <a:r>
              <a:rPr lang="ru-RU" b="1" dirty="0" smtClean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+mj-lt"/>
              </a:rPr>
              <a:t>Давление</a:t>
            </a:r>
            <a:r>
              <a:rPr lang="en-US" b="1" dirty="0" smtClean="0">
                <a:latin typeface="+mj-lt"/>
              </a:rPr>
              <a:t> (FSR402)</a:t>
            </a:r>
            <a:endParaRPr lang="ru-RU" b="1" dirty="0" smtClean="0">
              <a:latin typeface="+mj-lt"/>
            </a:endParaRPr>
          </a:p>
          <a:p>
            <a:r>
              <a:rPr lang="ru-RU" sz="1600" b="1" dirty="0" smtClean="0">
                <a:latin typeface="+mj-lt"/>
              </a:rPr>
              <a:t>Передача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+mj-lt"/>
              </a:rPr>
              <a:t>MQTT - </a:t>
            </a:r>
            <a:r>
              <a:rPr lang="ru-RU" b="1" dirty="0" smtClean="0">
                <a:latin typeface="+mj-lt"/>
              </a:rPr>
              <a:t>протокол</a:t>
            </a:r>
            <a:endParaRPr lang="ru-RU" b="1" dirty="0">
              <a:latin typeface="+mj-lt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600" b="1" dirty="0" smtClean="0">
                <a:latin typeface="+mj-lt"/>
              </a:rPr>
              <a:t>Обработка данных</a:t>
            </a:r>
            <a:endParaRPr lang="en-US" sz="1600" b="1" dirty="0" smtClean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Python (ML - </a:t>
            </a:r>
            <a:r>
              <a:rPr lang="ru-RU" dirty="0" smtClean="0">
                <a:latin typeface="+mj-lt"/>
              </a:rPr>
              <a:t>сервис</a:t>
            </a:r>
            <a:r>
              <a:rPr lang="en-US" dirty="0" smtClean="0">
                <a:latin typeface="+mj-lt"/>
              </a:rPr>
              <a:t>)</a:t>
            </a:r>
            <a:endParaRPr lang="ru-RU" dirty="0" smtClean="0">
              <a:latin typeface="+mj-lt"/>
            </a:endParaRPr>
          </a:p>
          <a:p>
            <a:r>
              <a:rPr lang="ru-RU" sz="1600" b="1" dirty="0" smtClean="0">
                <a:latin typeface="+mj-lt"/>
              </a:rPr>
              <a:t>Анализ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Real-time </a:t>
            </a:r>
            <a:r>
              <a:rPr lang="ru-RU" dirty="0" smtClean="0">
                <a:latin typeface="+mj-lt"/>
              </a:rPr>
              <a:t>обработка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+mj-lt"/>
              </a:rPr>
              <a:t>Классификация состояний</a:t>
            </a:r>
            <a:endParaRPr lang="en-US" dirty="0" smtClean="0">
              <a:latin typeface="+mj-lt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+mj-lt"/>
              </a:rPr>
              <a:t>Выбор технологий</a:t>
            </a:r>
            <a:endParaRPr lang="ru-RU" dirty="0">
              <a:latin typeface="+mj-lt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754137" y="1105488"/>
            <a:ext cx="3990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“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Wearable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sensors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enable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continuous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monitoring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of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vital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signs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…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allowing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stress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detection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in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real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effectLst/>
                <a:latin typeface="+mj-lt"/>
              </a:rPr>
              <a:t>time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effectLst/>
                <a:latin typeface="+mj-lt"/>
              </a:rPr>
              <a:t>”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54137" y="1940317"/>
            <a:ext cx="40701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400" b="1" dirty="0">
                <a:solidFill>
                  <a:schemeClr val="bg1"/>
                </a:solidFill>
                <a:hlinkClick r:id="rId2"/>
              </a:rPr>
              <a:t>A machine-learning Approach for Stress Detection Using Wearable Sensors in Free-living Environments</a:t>
            </a:r>
            <a:endParaRPr lang="en-US" sz="1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54137" y="2521061"/>
            <a:ext cx="39884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“Physiological markers such as HR, HRV and GSR are directly linked to stress responses”</a:t>
            </a:r>
            <a:endParaRPr lang="ru-RU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754137" y="3105836"/>
            <a:ext cx="4070195" cy="655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US" sz="1400" b="1" dirty="0">
                <a:solidFill>
                  <a:schemeClr val="bg1"/>
                </a:solidFill>
                <a:latin typeface="+mj-lt"/>
                <a:hlinkClick r:id="rId3"/>
              </a:rPr>
              <a:t>Mental Stress Detection Using Physiological Sensors and Artificial Intelligence: A Review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9848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24114" y="1233715"/>
            <a:ext cx="2624608" cy="3410856"/>
          </a:xfrm>
        </p:spPr>
        <p:txBody>
          <a:bodyPr/>
          <a:lstStyle/>
          <a:p>
            <a:r>
              <a:rPr lang="en-US" sz="1800" b="1" dirty="0" smtClean="0">
                <a:latin typeface="+mj-lt"/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Модель устойчива к шуму и выбросам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Оптимальна для малой выборки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Не требует сложной настройки</a:t>
            </a:r>
          </a:p>
          <a:p>
            <a:r>
              <a:rPr lang="en-US" sz="1400" dirty="0" smtClean="0">
                <a:latin typeface="+mj-lt"/>
              </a:rPr>
              <a:t>“</a:t>
            </a:r>
            <a:r>
              <a:rPr lang="ru-RU" sz="1400" dirty="0">
                <a:latin typeface="+mj-lt"/>
              </a:rPr>
              <a:t>Д</a:t>
            </a:r>
            <a:r>
              <a:rPr lang="ru-RU" sz="1400" dirty="0" smtClean="0">
                <a:latin typeface="+mj-lt"/>
              </a:rPr>
              <a:t>остигает </a:t>
            </a:r>
            <a:r>
              <a:rPr lang="ru-RU" sz="1400" dirty="0">
                <a:latin typeface="+mj-lt"/>
              </a:rPr>
              <a:t>точности до 99% при использовании </a:t>
            </a:r>
            <a:r>
              <a:rPr lang="ru-RU" sz="1400" dirty="0" smtClean="0">
                <a:latin typeface="+mj-lt"/>
              </a:rPr>
              <a:t>HRV-признаков</a:t>
            </a:r>
            <a:r>
              <a:rPr lang="en-US" sz="1400" dirty="0" smtClean="0">
                <a:latin typeface="+mj-lt"/>
              </a:rPr>
              <a:t>”</a:t>
            </a:r>
            <a:r>
              <a:rPr lang="ru-RU" sz="1400" dirty="0" smtClean="0">
                <a:latin typeface="+mj-lt"/>
              </a:rPr>
              <a:t> (</a:t>
            </a:r>
            <a:r>
              <a:rPr lang="ru-RU" sz="1400" dirty="0" smtClean="0">
                <a:latin typeface="+mj-lt"/>
                <a:hlinkClick r:id="rId2"/>
              </a:rPr>
              <a:t>источник</a:t>
            </a:r>
            <a:r>
              <a:rPr lang="ru-RU" sz="1400" dirty="0" smtClean="0">
                <a:latin typeface="+mj-lt"/>
              </a:rPr>
              <a:t>)</a:t>
            </a:r>
            <a:endParaRPr lang="en-US" sz="1400" dirty="0" smtClean="0">
              <a:latin typeface="+mj-lt"/>
            </a:endParaRPr>
          </a:p>
          <a:p>
            <a:r>
              <a:rPr lang="en-US" sz="1400" dirty="0" smtClean="0">
                <a:latin typeface="+mj-lt"/>
              </a:rPr>
              <a:t>“</a:t>
            </a:r>
            <a:r>
              <a:rPr lang="ru-RU" sz="1400" dirty="0">
                <a:latin typeface="+mj-lt"/>
              </a:rPr>
              <a:t>О</a:t>
            </a:r>
            <a:r>
              <a:rPr lang="ru-RU" sz="1400" dirty="0" smtClean="0">
                <a:latin typeface="+mj-lt"/>
              </a:rPr>
              <a:t>беспечивает </a:t>
            </a:r>
            <a:r>
              <a:rPr lang="ru-RU" sz="1400" dirty="0">
                <a:latin typeface="+mj-lt"/>
              </a:rPr>
              <a:t>F1-score &gt; 0.80 и AUC &gt; 0.90 при </a:t>
            </a:r>
            <a:r>
              <a:rPr lang="ru-RU" sz="1400" dirty="0" err="1">
                <a:latin typeface="+mj-lt"/>
              </a:rPr>
              <a:t>детекции</a:t>
            </a:r>
            <a:r>
              <a:rPr lang="ru-RU" sz="1400" dirty="0">
                <a:latin typeface="+mj-lt"/>
              </a:rPr>
              <a:t> </a:t>
            </a:r>
            <a:r>
              <a:rPr lang="ru-RU" sz="1400" dirty="0" smtClean="0">
                <a:latin typeface="+mj-lt"/>
              </a:rPr>
              <a:t>стресса</a:t>
            </a:r>
            <a:r>
              <a:rPr lang="en-US" sz="1400" dirty="0" smtClean="0">
                <a:latin typeface="+mj-lt"/>
              </a:rPr>
              <a:t>”</a:t>
            </a:r>
          </a:p>
          <a:p>
            <a:r>
              <a:rPr lang="en-US" sz="1400" dirty="0" smtClean="0">
                <a:latin typeface="+mj-lt"/>
              </a:rPr>
              <a:t>(</a:t>
            </a:r>
            <a:r>
              <a:rPr lang="ru-RU" sz="1400" dirty="0" smtClean="0">
                <a:latin typeface="+mj-lt"/>
                <a:hlinkClick r:id="rId3"/>
              </a:rPr>
              <a:t>источник</a:t>
            </a:r>
            <a:r>
              <a:rPr lang="en-US" sz="1400" dirty="0" smtClean="0">
                <a:latin typeface="+mj-lt"/>
              </a:rPr>
              <a:t>)</a:t>
            </a:r>
            <a:endParaRPr lang="ru-RU" sz="1400" dirty="0">
              <a:latin typeface="+mj-lt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Сравнение используемых моделей</a:t>
            </a:r>
            <a:endParaRPr lang="ru-RU" dirty="0"/>
          </a:p>
        </p:txBody>
      </p:sp>
      <p:sp>
        <p:nvSpPr>
          <p:cNvPr id="6" name="Текст 1"/>
          <p:cNvSpPr txBox="1">
            <a:spLocks/>
          </p:cNvSpPr>
          <p:nvPr/>
        </p:nvSpPr>
        <p:spPr>
          <a:xfrm>
            <a:off x="3248722" y="1233715"/>
            <a:ext cx="2624608" cy="3410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>
                <a:latin typeface="+mj-lt"/>
              </a:rPr>
              <a:t>Gradient Boosting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Высокая точность за счет ансамблевого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Учитывает сложные нелинейные зависимости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Эффективен в работе с признаками </a:t>
            </a:r>
            <a:r>
              <a:rPr lang="en-US" sz="1400" dirty="0" smtClean="0">
                <a:latin typeface="+mj-lt"/>
              </a:rPr>
              <a:t>HRV</a:t>
            </a:r>
            <a:endParaRPr lang="ru-RU" sz="1400" dirty="0" smtClean="0">
              <a:latin typeface="+mj-lt"/>
            </a:endParaRPr>
          </a:p>
          <a:p>
            <a:r>
              <a:rPr lang="en-US" sz="1400" dirty="0" smtClean="0">
                <a:latin typeface="+mj-lt"/>
              </a:rPr>
              <a:t>“</a:t>
            </a:r>
            <a:r>
              <a:rPr lang="ru-RU" sz="1400" dirty="0">
                <a:latin typeface="+mj-lt"/>
              </a:rPr>
              <a:t>П</a:t>
            </a:r>
            <a:r>
              <a:rPr lang="ru-RU" sz="1400" dirty="0" smtClean="0">
                <a:latin typeface="+mj-lt"/>
              </a:rPr>
              <a:t>оказывает </a:t>
            </a:r>
            <a:r>
              <a:rPr lang="ru-RU" sz="1400" dirty="0">
                <a:latin typeface="+mj-lt"/>
              </a:rPr>
              <a:t>конкурентные результаты среди ML-моделей при классификации стресса</a:t>
            </a:r>
            <a:r>
              <a:rPr lang="en-US" sz="1400" dirty="0">
                <a:latin typeface="+mj-lt"/>
              </a:rPr>
              <a:t>”</a:t>
            </a:r>
            <a:r>
              <a:rPr lang="ru-RU" sz="1400" dirty="0">
                <a:latin typeface="+mj-lt"/>
              </a:rPr>
              <a:t> (</a:t>
            </a:r>
            <a:r>
              <a:rPr lang="ru-RU" sz="1400" dirty="0">
                <a:latin typeface="+mj-lt"/>
                <a:hlinkClick r:id="rId4"/>
              </a:rPr>
              <a:t>источник</a:t>
            </a:r>
            <a:r>
              <a:rPr lang="ru-RU" sz="1400" dirty="0">
                <a:latin typeface="+mj-lt"/>
              </a:rPr>
              <a:t>)</a:t>
            </a:r>
          </a:p>
        </p:txBody>
      </p:sp>
      <p:sp>
        <p:nvSpPr>
          <p:cNvPr id="7" name="Текст 1"/>
          <p:cNvSpPr txBox="1">
            <a:spLocks/>
          </p:cNvSpPr>
          <p:nvPr/>
        </p:nvSpPr>
        <p:spPr>
          <a:xfrm>
            <a:off x="5873330" y="1237079"/>
            <a:ext cx="2624608" cy="3410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>
                <a:latin typeface="+mj-lt"/>
              </a:rPr>
              <a:t>ROCKET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Специально разработан для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Высокая скорость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Эффективен без сложного </a:t>
            </a:r>
            <a:r>
              <a:rPr lang="en-US" sz="1400" dirty="0" smtClean="0">
                <a:latin typeface="+mj-lt"/>
              </a:rPr>
              <a:t>feature engineering</a:t>
            </a:r>
            <a:r>
              <a:rPr lang="ru-RU" sz="1400" dirty="0" smtClean="0">
                <a:latin typeface="+mj-lt"/>
              </a:rPr>
              <a:t> </a:t>
            </a:r>
          </a:p>
          <a:p>
            <a:r>
              <a:rPr lang="en-US" sz="1400" dirty="0" smtClean="0">
                <a:latin typeface="+mj-lt"/>
              </a:rPr>
              <a:t>“</a:t>
            </a:r>
            <a:r>
              <a:rPr lang="ru-RU" sz="1400" dirty="0" smtClean="0">
                <a:latin typeface="+mj-lt"/>
              </a:rPr>
              <a:t>Методы </a:t>
            </a:r>
            <a:r>
              <a:rPr lang="ru-RU" sz="1400" dirty="0">
                <a:latin typeface="+mj-lt"/>
              </a:rPr>
              <a:t>обработки временных рядов значительно повышают качество классификации физиологических сигналов</a:t>
            </a:r>
            <a:r>
              <a:rPr lang="en-US" sz="1400" dirty="0" smtClean="0">
                <a:latin typeface="+mj-lt"/>
              </a:rPr>
              <a:t>”</a:t>
            </a:r>
            <a:r>
              <a:rPr lang="ru-RU" sz="1400" dirty="0" smtClean="0">
                <a:latin typeface="+mj-lt"/>
              </a:rPr>
              <a:t> </a:t>
            </a:r>
            <a:r>
              <a:rPr lang="ru-RU" sz="1400" dirty="0">
                <a:latin typeface="+mj-lt"/>
              </a:rPr>
              <a:t>(</a:t>
            </a:r>
            <a:r>
              <a:rPr lang="ru-RU" sz="1400" dirty="0">
                <a:latin typeface="+mj-lt"/>
                <a:hlinkClick r:id="rId5"/>
              </a:rPr>
              <a:t>источник</a:t>
            </a:r>
            <a:r>
              <a:rPr lang="ru-RU" sz="1400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081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457200" y="1233715"/>
            <a:ext cx="2323171" cy="3410856"/>
          </a:xfrm>
        </p:spPr>
        <p:txBody>
          <a:bodyPr anchor="ctr">
            <a:normAutofit/>
          </a:bodyPr>
          <a:lstStyle/>
          <a:p>
            <a:pPr algn="ctr"/>
            <a:r>
              <a:rPr lang="ru-RU" sz="1400" b="1" dirty="0">
                <a:latin typeface="+mj-lt"/>
              </a:rPr>
              <a:t>Интерактивный интерфейс системы анализа физиологических данных с отображением метрик и предсказания уровня стресса в реальном времени.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Интерфейс продукта</a:t>
            </a:r>
            <a:endParaRPr lang="ru-RU" dirty="0"/>
          </a:p>
        </p:txBody>
      </p:sp>
      <p:pic>
        <p:nvPicPr>
          <p:cNvPr id="3078" name="Picture 6" descr="https://sun9-54.userapi.com/s/v1/ig2/BJPrqbEMu1mvxbO-KnxirkY-j0Iu-ik5bChcnud0PDi9840lHKveZ87betE7EIkYljPUY8bwv8sDd9gM9zX3-RWv.jpg?quality=95&amp;as=32x21,48x31,72x47,108x70,160x103,240x155,360x233,480x310,540x349,640x414,720x465,1080x698,1280x827,1440x931,2560x1655&amp;from=bu&amp;u=6xQ_yCdSfhJGXzyP4FCifPvHRZABoeHgHKmPagAStLU&amp;cs=1280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371" y="928339"/>
            <a:ext cx="6103434" cy="39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59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457200" y="1211861"/>
            <a:ext cx="2241395" cy="3456783"/>
          </a:xfrm>
        </p:spPr>
        <p:txBody>
          <a:bodyPr anchor="ctr">
            <a:normAutofit/>
          </a:bodyPr>
          <a:lstStyle/>
          <a:p>
            <a:pPr algn="ctr"/>
            <a:r>
              <a:rPr lang="ru-RU" sz="1400" b="1" dirty="0"/>
              <a:t>Интерфейс оценки эффективности моделей машинного обучения и интерпретации их решений на основе анализа важности признаков.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Интерфейс продукта</a:t>
            </a:r>
            <a:endParaRPr lang="ru-RU" dirty="0"/>
          </a:p>
        </p:txBody>
      </p:sp>
      <p:pic>
        <p:nvPicPr>
          <p:cNvPr id="4100" name="Picture 4" descr="https://sun9-11.userapi.com/s/v1/ig2/JE4KfJziIkIbzu_rIYd8ITlF4QGIapb3GxSrmGQOp6-jCNijZFT21OYjoQ5n4bMJYcTzDSrojqbR92qz149fv44I.jpg?quality=95&amp;as=32x21,48x31,72x47,108x70,160x103,240x155,360x233,480x310,540x349,640x414,720x465,1080x698,1280x827,1440x931,2560x1655&amp;from=bu&amp;cs=1280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607" y="972594"/>
            <a:ext cx="6090934" cy="385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03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9522</TotalTime>
  <Words>1613</Words>
  <Application>Microsoft Office PowerPoint</Application>
  <PresentationFormat>Экран (16:9)</PresentationFormat>
  <Paragraphs>140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BioEmotion: платформа анализа эмоций по физиологическим данным</vt:lpstr>
      <vt:lpstr>Актуальность исследования</vt:lpstr>
      <vt:lpstr>Анализ предметной области</vt:lpstr>
      <vt:lpstr>Анализ предметной области</vt:lpstr>
      <vt:lpstr>Физиологический подход</vt:lpstr>
      <vt:lpstr>Поведенческий подход</vt:lpstr>
      <vt:lpstr>Комбинированный подход</vt:lpstr>
      <vt:lpstr>Резюме</vt:lpstr>
      <vt:lpstr>Обзор статей</vt:lpstr>
      <vt:lpstr>Обзор статей</vt:lpstr>
      <vt:lpstr>Обзор статей</vt:lpstr>
      <vt:lpstr>Цель и задачи проекта</vt:lpstr>
      <vt:lpstr>Выбор технологий</vt:lpstr>
      <vt:lpstr>Сравнение используемых моделей</vt:lpstr>
      <vt:lpstr>Интерфейс продукта</vt:lpstr>
      <vt:lpstr>Интерфейс продукта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X240</cp:lastModifiedBy>
  <cp:revision>162</cp:revision>
  <dcterms:created xsi:type="dcterms:W3CDTF">2014-06-27T12:30:22Z</dcterms:created>
  <dcterms:modified xsi:type="dcterms:W3CDTF">2026-04-29T09:20:09Z</dcterms:modified>
</cp:coreProperties>
</file>